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77" r:id="rId12"/>
    <p:sldId id="278" r:id="rId13"/>
    <p:sldId id="279" r:id="rId14"/>
    <p:sldId id="280" r:id="rId15"/>
    <p:sldId id="281" r:id="rId16"/>
    <p:sldId id="283" r:id="rId17"/>
    <p:sldId id="265" r:id="rId18"/>
    <p:sldId id="266" r:id="rId19"/>
    <p:sldId id="267" r:id="rId20"/>
    <p:sldId id="268" r:id="rId21"/>
    <p:sldId id="269" r:id="rId22"/>
    <p:sldId id="270" r:id="rId23"/>
    <p:sldId id="271" r:id="rId24"/>
    <p:sldId id="272" r:id="rId25"/>
    <p:sldId id="273" r:id="rId26"/>
    <p:sldId id="275" r:id="rId27"/>
    <p:sldId id="27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B363CA2-67DF-479C-92CF-D250795618DF}">
          <p14:sldIdLst>
            <p14:sldId id="256"/>
            <p14:sldId id="257"/>
            <p14:sldId id="258"/>
            <p14:sldId id="259"/>
            <p14:sldId id="260"/>
            <p14:sldId id="261"/>
            <p14:sldId id="262"/>
            <p14:sldId id="263"/>
            <p14:sldId id="264"/>
            <p14:sldId id="277"/>
            <p14:sldId id="278"/>
            <p14:sldId id="279"/>
            <p14:sldId id="280"/>
            <p14:sldId id="281"/>
            <p14:sldId id="283"/>
            <p14:sldId id="265"/>
            <p14:sldId id="266"/>
            <p14:sldId id="267"/>
            <p14:sldId id="268"/>
            <p14:sldId id="269"/>
            <p14:sldId id="270"/>
            <p14:sldId id="271"/>
            <p14:sldId id="272"/>
            <p14:sldId id="273"/>
            <p14:sldId id="275"/>
            <p14:sldId id="274"/>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rshan Bhatt" initials="D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1A513C-2608-4F40-A7BF-06DC9660DD5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9B9B89-FB05-4839-AA09-9169A429516A}" type="slidenum">
              <a:rPr lang="en-IN" smtClean="0"/>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D61A513C-2608-4F40-A7BF-06DC9660DD5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9B9B89-FB05-4839-AA09-9169A429516A}"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D61A513C-2608-4F40-A7BF-06DC9660DD5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9B9B89-FB05-4839-AA09-9169A429516A}" type="slidenum">
              <a:rPr lang="en-IN" smtClean="0"/>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D61A513C-2608-4F40-A7BF-06DC9660DD5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9B9B89-FB05-4839-AA09-9169A429516A}"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D61A513C-2608-4F40-A7BF-06DC9660DD5E}"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A9B9B89-FB05-4839-AA09-9169A429516A}"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1A513C-2608-4F40-A7BF-06DC9660DD5E}"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A9B9B89-FB05-4839-AA09-9169A429516A}"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61A513C-2608-4F40-A7BF-06DC9660DD5E}" type="datetimeFigureOut">
              <a:rPr lang="en-IN" smtClean="0"/>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0A9B9B89-FB05-4839-AA09-9169A429516A}"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61A513C-2608-4F40-A7BF-06DC9660DD5E}" type="datetimeFigureOut">
              <a:rPr lang="en-IN" smtClean="0"/>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A9B9B89-FB05-4839-AA09-9169A429516A}"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61A513C-2608-4F40-A7BF-06DC9660DD5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9B9B89-FB05-4839-AA09-9169A429516A}"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D61A513C-2608-4F40-A7BF-06DC9660DD5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9B9B89-FB05-4839-AA09-9169A429516A}"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D61A513C-2608-4F40-A7BF-06DC9660DD5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9B9B89-FB05-4839-AA09-9169A429516A}"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61A513C-2608-4F40-A7BF-06DC9660DD5E}" type="datetimeFigureOut">
              <a:rPr lang="en-IN" smtClean="0"/>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A9B9B89-FB05-4839-AA09-9169A429516A}" type="slidenum">
              <a:rPr lang="en-IN" smtClean="0"/>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4.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tags" Target="../tags/tag6.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tags" Target="../tags/tag8.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tags" Target="../tags/tag10.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team.atlassian.com/your-work" TargetMode="External"/><Relationship Id="rId3" Type="http://schemas.openxmlformats.org/officeDocument/2006/relationships/hyperlink" Target="https://airfocus.com/blog/how-to-write-perfect-user-stories/" TargetMode="External"/><Relationship Id="rId2" Type="http://schemas.openxmlformats.org/officeDocument/2006/relationships/hyperlink" Target="http://www.drawio.com/" TargetMode="External"/><Relationship Id="rId1" Type="http://schemas.openxmlformats.org/officeDocument/2006/relationships/hyperlink" Target="https://laravel.com/docs/11.x/readm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2720" y="3601705"/>
            <a:ext cx="8263570" cy="648880"/>
          </a:xfrm>
        </p:spPr>
        <p:txBody>
          <a:bodyPr>
            <a:normAutofit fontScale="90000"/>
          </a:bodyPr>
          <a:lstStyle/>
          <a:p>
            <a:pPr algn="ctr"/>
            <a:r>
              <a:rPr lang="en-IN" sz="4400" dirty="0">
                <a:latin typeface="Times New Roman" panose="02020603050405020304" pitchFamily="18" charset="0"/>
                <a:cs typeface="Times New Roman" panose="02020603050405020304" pitchFamily="18" charset="0"/>
              </a:rPr>
              <a:t>“Event Management System”</a:t>
            </a:r>
            <a:endParaRPr lang="en-IN" sz="4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465093" y="2957372"/>
            <a:ext cx="5261811" cy="461665"/>
          </a:xfrm>
          <a:prstGeom prst="rect">
            <a:avLst/>
          </a:prstGeom>
          <a:noFill/>
        </p:spPr>
        <p:txBody>
          <a:bodyPr wrap="square" rtlCol="0">
            <a:spAutoFit/>
          </a:bodyPr>
          <a:lstStyle/>
          <a:p>
            <a:pPr algn="ctr"/>
            <a:r>
              <a:rPr lang="en-IN" sz="2400" b="1" dirty="0"/>
              <a:t>A Project On</a:t>
            </a:r>
            <a:endParaRPr lang="en-IN" sz="2400" b="1" dirty="0"/>
          </a:p>
        </p:txBody>
      </p:sp>
      <p:sp>
        <p:nvSpPr>
          <p:cNvPr id="5" name="TextBox 4"/>
          <p:cNvSpPr txBox="1"/>
          <p:nvPr/>
        </p:nvSpPr>
        <p:spPr>
          <a:xfrm>
            <a:off x="3465093" y="2446492"/>
            <a:ext cx="5261811" cy="369332"/>
          </a:xfrm>
          <a:prstGeom prst="rect">
            <a:avLst/>
          </a:prstGeom>
          <a:noFill/>
        </p:spPr>
        <p:txBody>
          <a:bodyPr wrap="square" rtlCol="0">
            <a:spAutoFit/>
          </a:bodyPr>
          <a:lstStyle/>
          <a:p>
            <a:pPr algn="ctr"/>
            <a:r>
              <a:rPr lang="en-IN" b="1" dirty="0"/>
              <a:t>Semester: 2</a:t>
            </a:r>
            <a:endParaRPr lang="en-IN" b="1"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2714625" cy="1371600"/>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6290" y="-1"/>
            <a:ext cx="1583045" cy="1572127"/>
          </a:xfrm>
          <a:prstGeom prst="rect">
            <a:avLst/>
          </a:prstGeom>
        </p:spPr>
      </p:pic>
      <p:sp>
        <p:nvSpPr>
          <p:cNvPr id="10" name="TextBox 9"/>
          <p:cNvSpPr txBox="1"/>
          <p:nvPr/>
        </p:nvSpPr>
        <p:spPr>
          <a:xfrm>
            <a:off x="2714626" y="112294"/>
            <a:ext cx="6846470" cy="1917649"/>
          </a:xfrm>
          <a:prstGeom prst="rect">
            <a:avLst/>
          </a:prstGeom>
          <a:noFill/>
        </p:spPr>
        <p:txBody>
          <a:bodyPr wrap="square" rtlCol="0">
            <a:spAutoFit/>
          </a:bodyPr>
          <a:lstStyle/>
          <a:p>
            <a:pPr algn="ctr"/>
            <a:r>
              <a:rPr lang="en-IN" sz="1700" dirty="0"/>
              <a:t>Sarvajanik Education Society</a:t>
            </a:r>
            <a:endParaRPr lang="en-IN" sz="1700" dirty="0"/>
          </a:p>
          <a:p>
            <a:pPr algn="ctr"/>
            <a:endParaRPr lang="en-IN" sz="1700" dirty="0"/>
          </a:p>
          <a:p>
            <a:pPr algn="ctr"/>
            <a:r>
              <a:rPr lang="en-IN" sz="1700" dirty="0"/>
              <a:t>Sarvajanik College of Engineering and Technology, Surat</a:t>
            </a:r>
            <a:endParaRPr lang="en-IN" sz="1700" dirty="0"/>
          </a:p>
          <a:p>
            <a:pPr algn="ctr"/>
            <a:endParaRPr lang="en-IN" sz="1700" dirty="0"/>
          </a:p>
          <a:p>
            <a:pPr algn="ctr"/>
            <a:r>
              <a:rPr lang="en-IN" sz="1700" dirty="0"/>
              <a:t>Master of Computer Application</a:t>
            </a:r>
            <a:endParaRPr lang="en-IN" sz="1700" dirty="0"/>
          </a:p>
          <a:p>
            <a:pPr algn="ctr"/>
            <a:endParaRPr lang="en-IN" sz="1700" dirty="0"/>
          </a:p>
          <a:p>
            <a:pPr algn="ctr"/>
            <a:r>
              <a:rPr lang="en-IN" sz="1700" dirty="0"/>
              <a:t>Academic Year: 2023-24</a:t>
            </a:r>
            <a:endParaRPr lang="en-IN" sz="1700" dirty="0"/>
          </a:p>
        </p:txBody>
      </p:sp>
      <p:sp>
        <p:nvSpPr>
          <p:cNvPr id="11" name="TextBox 10"/>
          <p:cNvSpPr txBox="1"/>
          <p:nvPr/>
        </p:nvSpPr>
        <p:spPr>
          <a:xfrm>
            <a:off x="8662736" y="5151339"/>
            <a:ext cx="3466599" cy="1200329"/>
          </a:xfrm>
          <a:prstGeom prst="rect">
            <a:avLst/>
          </a:prstGeom>
          <a:noFill/>
        </p:spPr>
        <p:txBody>
          <a:bodyPr wrap="square" rtlCol="0">
            <a:spAutoFit/>
          </a:bodyPr>
          <a:lstStyle/>
          <a:p>
            <a:pPr algn="r"/>
            <a:r>
              <a:rPr lang="en-IN" b="1" dirty="0"/>
              <a:t>Presented By</a:t>
            </a:r>
            <a:endParaRPr lang="en-IN" b="1" dirty="0"/>
          </a:p>
          <a:p>
            <a:pPr algn="r"/>
            <a:r>
              <a:rPr lang="en-IN" b="1" dirty="0"/>
              <a:t>       </a:t>
            </a:r>
            <a:r>
              <a:rPr lang="en-IN" dirty="0"/>
              <a:t>Rudresh Raval - ET23MTCA119</a:t>
            </a:r>
            <a:endParaRPr lang="en-IN" dirty="0"/>
          </a:p>
          <a:p>
            <a:pPr algn="r"/>
            <a:r>
              <a:rPr lang="en-IN" dirty="0"/>
              <a:t> Jemish Vaghasiya - ET23MTCA137</a:t>
            </a:r>
            <a:endParaRPr lang="en-IN" dirty="0"/>
          </a:p>
          <a:p>
            <a:pPr algn="r"/>
            <a:r>
              <a:rPr lang="en-IN" dirty="0"/>
              <a:t> Darshan Bhatt – ET23MTCA071</a:t>
            </a:r>
            <a:endParaRPr lang="en-IN" dirty="0"/>
          </a:p>
        </p:txBody>
      </p:sp>
      <p:sp>
        <p:nvSpPr>
          <p:cNvPr id="12" name="TextBox 11"/>
          <p:cNvSpPr txBox="1"/>
          <p:nvPr/>
        </p:nvSpPr>
        <p:spPr>
          <a:xfrm>
            <a:off x="62665" y="5151339"/>
            <a:ext cx="2714625" cy="923330"/>
          </a:xfrm>
          <a:prstGeom prst="rect">
            <a:avLst/>
          </a:prstGeom>
          <a:noFill/>
        </p:spPr>
        <p:txBody>
          <a:bodyPr wrap="square" rtlCol="0">
            <a:spAutoFit/>
          </a:bodyPr>
          <a:lstStyle/>
          <a:p>
            <a:r>
              <a:rPr lang="en-IN" b="1" dirty="0"/>
              <a:t>Under the Guidance of</a:t>
            </a:r>
            <a:endParaRPr lang="en-IN" b="1" dirty="0"/>
          </a:p>
          <a:p>
            <a:endParaRPr lang="en-IN" dirty="0"/>
          </a:p>
          <a:p>
            <a:r>
              <a:rPr lang="en-IN" dirty="0"/>
              <a:t>Prof. Jayana Ahuja</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785" y="536888"/>
            <a:ext cx="10515600" cy="1091046"/>
          </a:xfrm>
        </p:spPr>
        <p:txBody>
          <a:bodyPr>
            <a:normAutofit/>
          </a:bodyPr>
          <a:lstStyle/>
          <a:p>
            <a:r>
              <a:rPr lang="en-IN" sz="3200" dirty="0">
                <a:latin typeface="Times New Roman" panose="02020603050405020304" pitchFamily="18" charset="0"/>
                <a:cs typeface="Times New Roman" panose="02020603050405020304" pitchFamily="18" charset="0"/>
              </a:rPr>
              <a:t>Table of Contents</a:t>
            </a:r>
            <a:endParaRPr lang="en-IN" sz="32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1276291" y="2022383"/>
          <a:ext cx="6793833" cy="3940092"/>
        </p:xfrm>
        <a:graphic>
          <a:graphicData uri="http://schemas.openxmlformats.org/drawingml/2006/table">
            <a:tbl>
              <a:tblPr firstRow="1" bandRow="1">
                <a:tableStyleId>{0505E3EF-67EA-436B-97B2-0124C06EBD24}</a:tableStyleId>
              </a:tblPr>
              <a:tblGrid>
                <a:gridCol w="1772654"/>
                <a:gridCol w="5021179"/>
              </a:tblGrid>
              <a:tr h="212208">
                <a:tc>
                  <a:txBody>
                    <a:bodyPr/>
                    <a:lstStyle/>
                    <a:p>
                      <a:pPr algn="l"/>
                      <a:r>
                        <a:rPr lang="en-IN" dirty="0"/>
                        <a:t>SR. No.</a:t>
                      </a:r>
                      <a:endParaRPr lang="en-IN" dirty="0"/>
                    </a:p>
                  </a:txBody>
                  <a:tcPr/>
                </a:tc>
                <a:tc>
                  <a:txBody>
                    <a:bodyPr/>
                    <a:lstStyle/>
                    <a:p>
                      <a:r>
                        <a:rPr lang="en-IN" dirty="0"/>
                        <a:t>Contents</a:t>
                      </a:r>
                      <a:endParaRPr lang="en-IN" dirty="0"/>
                    </a:p>
                  </a:txBody>
                  <a:tcPr/>
                </a:tc>
              </a:tr>
              <a:tr h="462164">
                <a:tc>
                  <a:txBody>
                    <a:bodyPr/>
                    <a:lstStyle/>
                    <a:p>
                      <a:r>
                        <a:rPr lang="en-IN" dirty="0"/>
                        <a:t>1.</a:t>
                      </a:r>
                      <a:endParaRPr lang="en-IN" dirty="0"/>
                    </a:p>
                  </a:txBody>
                  <a:tcPr/>
                </a:tc>
                <a:tc>
                  <a:txBody>
                    <a:bodyPr/>
                    <a:lstStyle/>
                    <a:p>
                      <a:r>
                        <a:rPr lang="en-IN" dirty="0"/>
                        <a:t>Abstract</a:t>
                      </a:r>
                      <a:endParaRPr lang="en-IN" dirty="0"/>
                    </a:p>
                  </a:txBody>
                  <a:tcPr/>
                </a:tc>
              </a:tr>
              <a:tr h="449178">
                <a:tc>
                  <a:txBody>
                    <a:bodyPr/>
                    <a:lstStyle/>
                    <a:p>
                      <a:r>
                        <a:rPr lang="en-IN" dirty="0"/>
                        <a:t>2.</a:t>
                      </a:r>
                      <a:endParaRPr lang="en-IN" dirty="0"/>
                    </a:p>
                  </a:txBody>
                  <a:tcPr/>
                </a:tc>
                <a:tc>
                  <a:txBody>
                    <a:bodyPr/>
                    <a:lstStyle/>
                    <a:p>
                      <a:r>
                        <a:rPr lang="en-IN" dirty="0"/>
                        <a:t>Overview </a:t>
                      </a:r>
                      <a:endParaRPr lang="en-IN" dirty="0"/>
                    </a:p>
                  </a:txBody>
                  <a:tcPr/>
                </a:tc>
              </a:tr>
              <a:tr h="449179">
                <a:tc>
                  <a:txBody>
                    <a:bodyPr/>
                    <a:lstStyle/>
                    <a:p>
                      <a:r>
                        <a:rPr lang="en-IN" dirty="0"/>
                        <a:t>3.</a:t>
                      </a:r>
                      <a:endParaRPr lang="en-IN" dirty="0"/>
                    </a:p>
                  </a:txBody>
                  <a:tcPr/>
                </a:tc>
                <a:tc>
                  <a:txBody>
                    <a:bodyPr/>
                    <a:lstStyle/>
                    <a:p>
                      <a:r>
                        <a:rPr lang="en-IN" dirty="0"/>
                        <a:t>Key Features</a:t>
                      </a:r>
                      <a:endParaRPr lang="en-IN" dirty="0"/>
                    </a:p>
                  </a:txBody>
                  <a:tcPr/>
                </a:tc>
              </a:tr>
              <a:tr h="465221">
                <a:tc>
                  <a:txBody>
                    <a:bodyPr/>
                    <a:lstStyle/>
                    <a:p>
                      <a:r>
                        <a:rPr lang="en-IN" dirty="0"/>
                        <a:t>4.</a:t>
                      </a:r>
                      <a:endParaRPr lang="en-IN" dirty="0"/>
                    </a:p>
                  </a:txBody>
                  <a:tcPr/>
                </a:tc>
                <a:tc>
                  <a:txBody>
                    <a:bodyPr/>
                    <a:lstStyle/>
                    <a:p>
                      <a:r>
                        <a:rPr lang="en-IN" dirty="0"/>
                        <a:t>Software/Hardware Requirements</a:t>
                      </a:r>
                      <a:endParaRPr lang="en-IN" dirty="0"/>
                    </a:p>
                  </a:txBody>
                  <a:tcPr/>
                </a:tc>
              </a:tr>
              <a:tr h="481264">
                <a:tc>
                  <a:txBody>
                    <a:bodyPr/>
                    <a:lstStyle/>
                    <a:p>
                      <a:r>
                        <a:rPr lang="en-IN" dirty="0"/>
                        <a:t>5.</a:t>
                      </a:r>
                      <a:endParaRPr lang="en-IN" dirty="0"/>
                    </a:p>
                  </a:txBody>
                  <a:tcPr/>
                </a:tc>
                <a:tc>
                  <a:txBody>
                    <a:bodyPr/>
                    <a:lstStyle/>
                    <a:p>
                      <a:r>
                        <a:rPr lang="en-IN" dirty="0"/>
                        <a:t>Advantages and Disadvantages </a:t>
                      </a:r>
                      <a:endParaRPr lang="en-IN" dirty="0"/>
                    </a:p>
                  </a:txBody>
                  <a:tcPr/>
                </a:tc>
              </a:tr>
              <a:tr h="401052">
                <a:tc>
                  <a:txBody>
                    <a:bodyPr/>
                    <a:lstStyle/>
                    <a:p>
                      <a:r>
                        <a:rPr lang="en-IN" dirty="0"/>
                        <a:t>6.</a:t>
                      </a:r>
                      <a:endParaRPr lang="en-IN" dirty="0"/>
                    </a:p>
                  </a:txBody>
                  <a:tcPr/>
                </a:tc>
                <a:tc>
                  <a:txBody>
                    <a:bodyPr/>
                    <a:lstStyle/>
                    <a:p>
                      <a:r>
                        <a:rPr lang="en-IN" dirty="0"/>
                        <a:t>Module of System</a:t>
                      </a:r>
                      <a:endParaRPr lang="en-IN" dirty="0"/>
                    </a:p>
                  </a:txBody>
                  <a:tcPr/>
                </a:tc>
              </a:tr>
              <a:tr h="449179">
                <a:tc>
                  <a:txBody>
                    <a:bodyPr/>
                    <a:lstStyle/>
                    <a:p>
                      <a:r>
                        <a:rPr lang="en-IN" dirty="0"/>
                        <a:t>7.</a:t>
                      </a:r>
                      <a:endParaRPr lang="en-IN" dirty="0"/>
                    </a:p>
                  </a:txBody>
                  <a:tcPr/>
                </a:tc>
                <a:tc>
                  <a:txBody>
                    <a:bodyPr/>
                    <a:lstStyle/>
                    <a:p>
                      <a:r>
                        <a:rPr lang="en-IN" dirty="0"/>
                        <a:t>Screenshots</a:t>
                      </a:r>
                      <a:endParaRPr lang="en-IN" dirty="0"/>
                    </a:p>
                  </a:txBody>
                  <a:tcPr/>
                </a:tc>
              </a:tr>
              <a:tr h="417095">
                <a:tc>
                  <a:txBody>
                    <a:bodyPr/>
                    <a:lstStyle/>
                    <a:p>
                      <a:r>
                        <a:rPr lang="en-IN" dirty="0"/>
                        <a:t>8.</a:t>
                      </a:r>
                      <a:endParaRPr lang="en-IN" dirty="0"/>
                    </a:p>
                  </a:txBody>
                  <a:tcPr/>
                </a:tc>
                <a:tc>
                  <a:txBody>
                    <a:bodyPr/>
                    <a:lstStyle/>
                    <a:p>
                      <a:r>
                        <a:rPr lang="en-IN" dirty="0"/>
                        <a:t>References</a:t>
                      </a:r>
                      <a:endParaRPr lang="en-IN" dirty="0"/>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5744" y="643153"/>
            <a:ext cx="9603275" cy="1049235"/>
          </a:xfrm>
        </p:spPr>
        <p:txBody>
          <a:bodyPr/>
          <a:lstStyle/>
          <a:p>
            <a:r>
              <a:rPr lang="en-IN"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55744" y="2031814"/>
            <a:ext cx="9252284" cy="3227638"/>
          </a:xfrm>
        </p:spPr>
        <p:txBody>
          <a:bodyPr>
            <a:normAutofit/>
          </a:bodyPr>
          <a:lstStyle/>
          <a:p>
            <a:r>
              <a:rPr lang="en-GB" b="0" i="0" u="none" strike="noStrike" baseline="0" dirty="0">
                <a:solidFill>
                  <a:srgbClr val="000000"/>
                </a:solidFill>
                <a:latin typeface="Times New Roman" panose="02020603050405020304" pitchFamily="18" charset="0"/>
              </a:rPr>
              <a:t>Event Management System is a place where user can book event ticket of his/her desired event and admin can add events and show on the site, particularly on the homepage. </a:t>
            </a:r>
            <a:endParaRPr lang="en-GB" b="0" i="0" u="none" strike="noStrike" baseline="0" dirty="0">
              <a:solidFill>
                <a:srgbClr val="000000"/>
              </a:solidFill>
              <a:latin typeface="Times New Roman" panose="02020603050405020304" pitchFamily="18" charset="0"/>
            </a:endParaRPr>
          </a:p>
          <a:p>
            <a:pPr marL="0" indent="0">
              <a:buNone/>
            </a:pPr>
            <a:endParaRPr lang="en-GB" dirty="0">
              <a:solidFill>
                <a:srgbClr val="000000"/>
              </a:solidFill>
              <a:latin typeface="Times New Roman" panose="02020603050405020304" pitchFamily="18" charset="0"/>
            </a:endParaRPr>
          </a:p>
          <a:p>
            <a:r>
              <a:rPr lang="en-GB" dirty="0">
                <a:solidFill>
                  <a:srgbClr val="000000"/>
                </a:solidFill>
                <a:latin typeface="Times New Roman" panose="02020603050405020304" pitchFamily="18" charset="0"/>
              </a:rPr>
              <a:t>There are dashboards available for admin and organizer role where admin and organizer can update data related to events and participants.</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2085601"/>
            <a:ext cx="10515600" cy="3885364"/>
          </a:xfrm>
        </p:spPr>
        <p:txBody>
          <a:bodyPr/>
          <a:lstStyle/>
          <a:p>
            <a:r>
              <a:rPr lang="en-GB" dirty="0">
                <a:latin typeface="Times New Roman" panose="02020603050405020304" pitchFamily="18" charset="0"/>
                <a:cs typeface="Times New Roman" panose="02020603050405020304" pitchFamily="18" charset="0"/>
              </a:rPr>
              <a:t>The system allows users to book tickets for events and enables admin to manage events, venues, and user data efficiently. It provides secure login, browsing of events, ticket booking, and payment gateway integration.</a:t>
            </a: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The system gives user-friendly environment for users to book tickets in upcoming events and current events showing on homepage of the website.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134273" y="731837"/>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Overview</a:t>
            </a:r>
            <a:endParaRPr lang="en-IN" dirty="0">
              <a:latin typeface="Times New Roman" panose="02020603050405020304" pitchFamily="18" charset="0"/>
              <a:cs typeface="Times New Roman" panose="02020603050405020304" pitchFamily="18" charset="0"/>
            </a:endParaRPr>
          </a:p>
        </p:txBody>
      </p:sp>
      <p:sp>
        <p:nvSpPr>
          <p:cNvPr id="5" name="Content Placeholder 2"/>
          <p:cNvSpPr txBox="1"/>
          <p:nvPr/>
        </p:nvSpPr>
        <p:spPr>
          <a:xfrm>
            <a:off x="1134273" y="1874837"/>
            <a:ext cx="82296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Times New Roman" panose="02020603050405020304" pitchFamily="18" charset="0"/>
                <a:cs typeface="Times New Roman" panose="02020603050405020304" pitchFamily="18" charset="0"/>
              </a:rPr>
              <a:t>The Online Event Management System is designed to streamline the process of event management. Users can browse events, view details, and book tickets, while administrators can add events, manage bookings, and handle payments through a secure platform.</a:t>
            </a:r>
            <a:endParaRPr lang="en-GB"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165412" y="510988"/>
            <a:ext cx="8229600" cy="1143000"/>
          </a:xfrm>
        </p:spPr>
        <p:txBody>
          <a:bodyPr/>
          <a:lstStyle/>
          <a:p>
            <a:r>
              <a:rPr dirty="0">
                <a:latin typeface="Times New Roman" panose="02020603050405020304" pitchFamily="18" charset="0"/>
                <a:cs typeface="Times New Roman" panose="02020603050405020304" pitchFamily="18" charset="0"/>
              </a:rPr>
              <a:t>Key Features</a:t>
            </a:r>
            <a:endParaRPr dirty="0">
              <a:latin typeface="Times New Roman" panose="02020603050405020304" pitchFamily="18" charset="0"/>
              <a:cs typeface="Times New Roman" panose="02020603050405020304" pitchFamily="18" charset="0"/>
            </a:endParaRPr>
          </a:p>
        </p:txBody>
      </p:sp>
      <p:sp>
        <p:nvSpPr>
          <p:cNvPr id="5" name="Content Placeholder 2"/>
          <p:cNvSpPr>
            <a:spLocks noGrp="1"/>
          </p:cNvSpPr>
          <p:nvPr>
            <p:ph idx="1"/>
          </p:nvPr>
        </p:nvSpPr>
        <p:spPr>
          <a:xfrm>
            <a:off x="1165412" y="1905000"/>
            <a:ext cx="8229600" cy="4525963"/>
          </a:xfrm>
        </p:spPr>
        <p:txBody>
          <a:bodyPr/>
          <a:lstStyle/>
          <a:p>
            <a:r>
              <a:rPr dirty="0">
                <a:latin typeface="Times New Roman" panose="02020603050405020304" pitchFamily="18" charset="0"/>
                <a:cs typeface="Times New Roman" panose="02020603050405020304" pitchFamily="18" charset="0"/>
              </a:rPr>
              <a:t>1. User Registration and Secure Login</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2. Event Browsing and Details</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3. Showtime and Ticket Booking</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4. Admin Dashboard for Event Management</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5. Secure Payment Gateway Integration</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6. Data Security and HTTPS Protocol</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109263" y="384102"/>
            <a:ext cx="8229600" cy="1143000"/>
          </a:xfrm>
        </p:spPr>
        <p:txBody>
          <a:bodyPr>
            <a:normAutofit fontScale="90000"/>
          </a:bodyPr>
          <a:lstStyle/>
          <a:p>
            <a:r>
              <a:rPr dirty="0">
                <a:latin typeface="Times New Roman" panose="02020603050405020304" pitchFamily="18" charset="0"/>
                <a:cs typeface="Times New Roman" panose="02020603050405020304" pitchFamily="18" charset="0"/>
              </a:rPr>
              <a:t>Software/Hardware Requirements</a:t>
            </a:r>
            <a:endParaRPr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1109263" y="1866781"/>
            <a:ext cx="8229600" cy="4525963"/>
          </a:xfrm>
        </p:spPr>
        <p:txBody>
          <a:bodyPr>
            <a:normAutofit/>
          </a:bodyPr>
          <a:lstStyle/>
          <a:p>
            <a:r>
              <a:rPr lang="en-IN" dirty="0">
                <a:latin typeface="Times New Roman" panose="02020603050405020304" pitchFamily="18" charset="0"/>
                <a:cs typeface="Times New Roman" panose="02020603050405020304" pitchFamily="18" charset="0"/>
              </a:rPr>
              <a:t>User Side Requirements: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Hardware: RAM – 8 GB, Processor – Intel i3, Hard Disk – 128 GB</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Software: OS – Windows 10, Browser – Chrome/Edge</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Admin Side Requirements: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Hardware: RAM – 8 GB, Processor – Intel i3, Hard Disk – 128 GB</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Software: Platform – PHP Laravel, Database – MySQL, Editor: VS Code</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138517" y="453932"/>
            <a:ext cx="8229600" cy="1143000"/>
          </a:xfrm>
        </p:spPr>
        <p:txBody>
          <a:bodyPr/>
          <a:lstStyle/>
          <a:p>
            <a:r>
              <a:rPr dirty="0">
                <a:latin typeface="Times New Roman" panose="02020603050405020304" pitchFamily="18" charset="0"/>
                <a:cs typeface="Times New Roman" panose="02020603050405020304" pitchFamily="18" charset="0"/>
              </a:rPr>
              <a:t>Advantages and Disadvantages</a:t>
            </a:r>
            <a:endParaRPr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1138517" y="1878105"/>
            <a:ext cx="8229600" cy="4525963"/>
          </a:xfrm>
        </p:spPr>
        <p:txBody>
          <a:bodyPr>
            <a:normAutofit/>
          </a:bodyPr>
          <a:lstStyle/>
          <a:p>
            <a:r>
              <a:rPr dirty="0">
                <a:latin typeface="Times New Roman" panose="02020603050405020304" pitchFamily="18" charset="0"/>
                <a:cs typeface="Times New Roman" panose="02020603050405020304" pitchFamily="18" charset="0"/>
              </a:rPr>
              <a:t>Advantages:</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1. Facility for Event Ticket Booking</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2. Booking from Anytime and Anywhere</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3. Upcoming Event Details</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4. Event Details with Images</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Disadvantages:</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1. Internet Handling Charges</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2. Admin can only view user</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3. No Payment Success Notification for Users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3694" y="328426"/>
            <a:ext cx="8229600" cy="1143000"/>
          </a:xfrm>
        </p:spPr>
        <p:txBody>
          <a:bodyPr/>
          <a:lstStyle/>
          <a:p>
            <a:r>
              <a:rPr dirty="0">
                <a:latin typeface="Times New Roman" panose="02020603050405020304" pitchFamily="18" charset="0"/>
                <a:cs typeface="Times New Roman" panose="02020603050405020304" pitchFamily="18" charset="0"/>
              </a:rPr>
              <a:t>Module of System</a:t>
            </a:r>
            <a:endParaRPr dirty="0">
              <a:latin typeface="Times New Roman" panose="02020603050405020304" pitchFamily="18" charset="0"/>
              <a:cs typeface="Times New Roman" panose="02020603050405020304" pitchFamily="18" charset="0"/>
            </a:endParaRPr>
          </a:p>
        </p:txBody>
      </p:sp>
      <p:sp>
        <p:nvSpPr>
          <p:cNvPr id="5" name="Content Placeholder 2"/>
          <p:cNvSpPr>
            <a:spLocks noGrp="1"/>
          </p:cNvSpPr>
          <p:nvPr>
            <p:ph idx="1"/>
          </p:nvPr>
        </p:nvSpPr>
        <p:spPr>
          <a:xfrm>
            <a:off x="1093694" y="2003611"/>
            <a:ext cx="8229600" cy="4525963"/>
          </a:xfrm>
        </p:spPr>
        <p:txBody>
          <a:bodyPr/>
          <a:lstStyle/>
          <a:p>
            <a:r>
              <a:rPr dirty="0">
                <a:latin typeface="Times New Roman" panose="02020603050405020304" pitchFamily="18" charset="0"/>
                <a:cs typeface="Times New Roman" panose="02020603050405020304" pitchFamily="18" charset="0"/>
              </a:rPr>
              <a:t>1. User Interface (UI)</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2. Database Management System (DBMS)</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3. Authentication and Authorization</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4. Payment Gateway Integration</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5. Event and Seat Management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custDataLst>
              <p:tags r:id="rId1"/>
            </p:custDataLst>
          </p:nvPr>
        </p:nvSpPr>
        <p:spPr>
          <a:xfrm>
            <a:off x="448943" y="2103437"/>
            <a:ext cx="10515600" cy="1325563"/>
          </a:xfrm>
        </p:spPr>
        <p:txBody>
          <a:bodyPr/>
          <a:p>
            <a:pPr algn="ctr"/>
            <a:r>
              <a:rPr lang="en-IN" dirty="0">
                <a:latin typeface="Times New Roman" panose="02020603050405020304" pitchFamily="18" charset="0"/>
                <a:cs typeface="Times New Roman" panose="02020603050405020304" pitchFamily="18" charset="0"/>
              </a:rPr>
              <a:t>UseCase Diagram</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966845" y="255905"/>
            <a:ext cx="3670935" cy="5727065"/>
          </a:xfrm>
          <a:prstGeom prst="rect">
            <a:avLst/>
          </a:prstGeom>
          <a:noFill/>
          <a:ln>
            <a:noFill/>
          </a:ln>
        </p:spPr>
      </p:pic>
      <p:sp>
        <p:nvSpPr>
          <p:cNvPr id="14" name="TextBox 13"/>
          <p:cNvSpPr txBox="1"/>
          <p:nvPr>
            <p:custDataLst>
              <p:tags r:id="rId2"/>
            </p:custDataLst>
          </p:nvPr>
        </p:nvSpPr>
        <p:spPr>
          <a:xfrm>
            <a:off x="8773816" y="3820315"/>
            <a:ext cx="3148330" cy="398780"/>
          </a:xfrm>
          <a:prstGeom prst="rect">
            <a:avLst/>
          </a:prstGeom>
          <a:noFill/>
        </p:spPr>
        <p:txBody>
          <a:bodyPr wrap="none" rtlCol="0">
            <a:spAutoFit/>
          </a:bodyPr>
          <a:p>
            <a:r>
              <a:rPr lang="en-IN" sz="2000" i="1" dirty="0"/>
              <a:t> UseCase  diagram for admin</a:t>
            </a:r>
            <a:endParaRPr lang="en-IN" sz="2000" i="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TextBox 13"/>
          <p:cNvSpPr txBox="1"/>
          <p:nvPr>
            <p:custDataLst>
              <p:tags r:id="rId1"/>
            </p:custDataLst>
          </p:nvPr>
        </p:nvSpPr>
        <p:spPr>
          <a:xfrm>
            <a:off x="8773816" y="3820315"/>
            <a:ext cx="2934970" cy="398780"/>
          </a:xfrm>
          <a:prstGeom prst="rect">
            <a:avLst/>
          </a:prstGeom>
          <a:noFill/>
        </p:spPr>
        <p:txBody>
          <a:bodyPr wrap="none" rtlCol="0">
            <a:spAutoFit/>
          </a:bodyPr>
          <a:p>
            <a:r>
              <a:rPr lang="en-IN" sz="2000" i="1" dirty="0"/>
              <a:t> UseCase  diagram for user</a:t>
            </a:r>
            <a:endParaRPr lang="en-IN" sz="2000" i="1" dirty="0"/>
          </a:p>
        </p:txBody>
      </p:sp>
      <p:pic>
        <p:nvPicPr>
          <p:cNvPr id="1176913756" name="Picture 2"/>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a:xfrm>
            <a:off x="2686050" y="478790"/>
            <a:ext cx="5623560" cy="557593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TextBox 13"/>
          <p:cNvSpPr txBox="1"/>
          <p:nvPr>
            <p:custDataLst>
              <p:tags r:id="rId1"/>
            </p:custDataLst>
          </p:nvPr>
        </p:nvSpPr>
        <p:spPr>
          <a:xfrm>
            <a:off x="8773816" y="3820315"/>
            <a:ext cx="3469640" cy="398780"/>
          </a:xfrm>
          <a:prstGeom prst="rect">
            <a:avLst/>
          </a:prstGeom>
          <a:noFill/>
        </p:spPr>
        <p:txBody>
          <a:bodyPr wrap="none" rtlCol="0">
            <a:spAutoFit/>
          </a:bodyPr>
          <a:p>
            <a:r>
              <a:rPr lang="en-IN" sz="2000" i="1" dirty="0"/>
              <a:t> UseCase  diagram for organizer</a:t>
            </a:r>
            <a:endParaRPr lang="en-IN" sz="2000" i="1" dirty="0"/>
          </a:p>
        </p:txBody>
      </p:sp>
      <p:pic>
        <p:nvPicPr>
          <p:cNvPr id="728243416" name="Picture 3"/>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a:xfrm>
            <a:off x="2454275" y="354330"/>
            <a:ext cx="5573395" cy="573976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TextBox 13"/>
          <p:cNvSpPr txBox="1"/>
          <p:nvPr>
            <p:custDataLst>
              <p:tags r:id="rId1"/>
            </p:custDataLst>
          </p:nvPr>
        </p:nvSpPr>
        <p:spPr>
          <a:xfrm>
            <a:off x="8773816" y="3820315"/>
            <a:ext cx="2973705" cy="398780"/>
          </a:xfrm>
          <a:prstGeom prst="rect">
            <a:avLst/>
          </a:prstGeom>
          <a:noFill/>
        </p:spPr>
        <p:txBody>
          <a:bodyPr wrap="none" rtlCol="0">
            <a:spAutoFit/>
          </a:bodyPr>
          <a:p>
            <a:r>
              <a:rPr lang="en-IN" sz="2000" i="1" dirty="0"/>
              <a:t>Activity Diagram for Admin</a:t>
            </a:r>
            <a:endParaRPr lang="en-IN" sz="2000" i="1" dirty="0"/>
          </a:p>
        </p:txBody>
      </p:sp>
      <p:pic>
        <p:nvPicPr>
          <p:cNvPr id="194189526" name="Picture 4"/>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539115" y="523875"/>
            <a:ext cx="7694930" cy="53670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TextBox 13"/>
          <p:cNvSpPr txBox="1"/>
          <p:nvPr>
            <p:custDataLst>
              <p:tags r:id="rId1"/>
            </p:custDataLst>
          </p:nvPr>
        </p:nvSpPr>
        <p:spPr>
          <a:xfrm>
            <a:off x="8937646" y="3632355"/>
            <a:ext cx="2776855" cy="398780"/>
          </a:xfrm>
          <a:prstGeom prst="rect">
            <a:avLst/>
          </a:prstGeom>
          <a:noFill/>
        </p:spPr>
        <p:txBody>
          <a:bodyPr wrap="none" rtlCol="0">
            <a:spAutoFit/>
          </a:bodyPr>
          <a:p>
            <a:r>
              <a:rPr lang="en-IN" sz="2000" i="1" dirty="0"/>
              <a:t>Activity Diagram for User</a:t>
            </a:r>
            <a:endParaRPr lang="en-IN" sz="2000" i="1" dirty="0"/>
          </a:p>
        </p:txBody>
      </p:sp>
      <p:pic>
        <p:nvPicPr>
          <p:cNvPr id="1271636455" name="Picture 5"/>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538480" y="245745"/>
            <a:ext cx="8399145" cy="58534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43" y="2103437"/>
            <a:ext cx="10515600" cy="1325563"/>
          </a:xfrm>
        </p:spPr>
        <p:txBody>
          <a:bodyPr/>
          <a:lstStyle/>
          <a:p>
            <a:pPr algn="ctr"/>
            <a:r>
              <a:rPr lang="en-IN" dirty="0">
                <a:latin typeface="Times New Roman" panose="02020603050405020304" pitchFamily="18" charset="0"/>
                <a:cs typeface="Times New Roman" panose="02020603050405020304" pitchFamily="18" charset="0"/>
              </a:rPr>
              <a:t>Screenshots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2150248" y="624496"/>
            <a:ext cx="7891503" cy="4695444"/>
          </a:xfrm>
          <a:prstGeom prst="rect">
            <a:avLst/>
          </a:prstGeom>
          <a:noFill/>
          <a:ln>
            <a:noFill/>
          </a:ln>
        </p:spPr>
      </p:pic>
      <p:sp>
        <p:nvSpPr>
          <p:cNvPr id="14" name="TextBox 13"/>
          <p:cNvSpPr txBox="1"/>
          <p:nvPr/>
        </p:nvSpPr>
        <p:spPr>
          <a:xfrm>
            <a:off x="4926351" y="5598950"/>
            <a:ext cx="2339295" cy="400110"/>
          </a:xfrm>
          <a:prstGeom prst="rect">
            <a:avLst/>
          </a:prstGeom>
          <a:noFill/>
        </p:spPr>
        <p:txBody>
          <a:bodyPr wrap="none" rtlCol="0">
            <a:spAutoFit/>
          </a:bodyPr>
          <a:lstStyle/>
          <a:p>
            <a:r>
              <a:rPr lang="en-IN" sz="2000" i="1" dirty="0"/>
              <a:t>Figure 1 : Login Page</a:t>
            </a:r>
            <a:endParaRPr lang="en-IN" sz="2000" i="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2543425" y="605552"/>
            <a:ext cx="7105149" cy="5000104"/>
          </a:xfrm>
          <a:prstGeom prst="rect">
            <a:avLst/>
          </a:prstGeom>
          <a:noFill/>
          <a:ln>
            <a:noFill/>
          </a:ln>
        </p:spPr>
      </p:pic>
      <p:sp>
        <p:nvSpPr>
          <p:cNvPr id="6" name="TextBox 5"/>
          <p:cNvSpPr txBox="1"/>
          <p:nvPr/>
        </p:nvSpPr>
        <p:spPr>
          <a:xfrm>
            <a:off x="3047999" y="5768354"/>
            <a:ext cx="6096000" cy="369332"/>
          </a:xfrm>
          <a:prstGeom prst="rect">
            <a:avLst/>
          </a:prstGeom>
          <a:noFill/>
        </p:spPr>
        <p:txBody>
          <a:bodyPr wrap="square">
            <a:spAutoFit/>
          </a:bodyPr>
          <a:lstStyle/>
          <a:p>
            <a:pPr algn="ctr"/>
            <a:r>
              <a:rPr lang="en-IN" sz="1800" i="1" dirty="0"/>
              <a:t>Figure 2 : Registration Page</a:t>
            </a:r>
            <a:endParaRPr lang="en-IN" sz="1800" i="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2114398" y="822719"/>
            <a:ext cx="8312969" cy="4062964"/>
          </a:xfrm>
          <a:prstGeom prst="rect">
            <a:avLst/>
          </a:prstGeom>
          <a:noFill/>
          <a:ln>
            <a:noFill/>
          </a:ln>
        </p:spPr>
      </p:pic>
      <p:sp>
        <p:nvSpPr>
          <p:cNvPr id="6" name="TextBox 5"/>
          <p:cNvSpPr txBox="1"/>
          <p:nvPr/>
        </p:nvSpPr>
        <p:spPr>
          <a:xfrm>
            <a:off x="3048000" y="5312117"/>
            <a:ext cx="6096000" cy="369332"/>
          </a:xfrm>
          <a:prstGeom prst="rect">
            <a:avLst/>
          </a:prstGeom>
          <a:noFill/>
        </p:spPr>
        <p:txBody>
          <a:bodyPr wrap="square">
            <a:spAutoFit/>
          </a:bodyPr>
          <a:lstStyle/>
          <a:p>
            <a:pPr algn="ctr"/>
            <a:r>
              <a:rPr lang="en-IN" sz="1800" i="1" dirty="0"/>
              <a:t>Figure </a:t>
            </a:r>
            <a:r>
              <a:rPr lang="en-IN" i="1" dirty="0"/>
              <a:t>3</a:t>
            </a:r>
            <a:r>
              <a:rPr lang="en-IN" sz="1800" i="1" dirty="0"/>
              <a:t> : Forgot Password Page</a:t>
            </a:r>
            <a:endParaRPr lang="en-IN" sz="1800" i="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2382252" y="401052"/>
            <a:ext cx="7427495" cy="5293895"/>
          </a:xfrm>
          <a:prstGeom prst="rect">
            <a:avLst/>
          </a:prstGeom>
          <a:noFill/>
          <a:ln>
            <a:noFill/>
          </a:ln>
        </p:spPr>
      </p:pic>
      <p:sp>
        <p:nvSpPr>
          <p:cNvPr id="5" name="TextBox 4"/>
          <p:cNvSpPr txBox="1"/>
          <p:nvPr/>
        </p:nvSpPr>
        <p:spPr>
          <a:xfrm>
            <a:off x="3047999" y="5824336"/>
            <a:ext cx="6096000" cy="369332"/>
          </a:xfrm>
          <a:prstGeom prst="rect">
            <a:avLst/>
          </a:prstGeom>
          <a:noFill/>
        </p:spPr>
        <p:txBody>
          <a:bodyPr wrap="square">
            <a:spAutoFit/>
          </a:bodyPr>
          <a:lstStyle/>
          <a:p>
            <a:pPr algn="ctr"/>
            <a:r>
              <a:rPr lang="en-IN" sz="1800" i="1" dirty="0"/>
              <a:t>Figure 4 : </a:t>
            </a:r>
            <a:r>
              <a:rPr lang="en-IN" i="1" dirty="0"/>
              <a:t>Event Detail Page</a:t>
            </a:r>
            <a:endParaRPr lang="en-IN" sz="1800" i="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794322" y="644672"/>
            <a:ext cx="8603355" cy="4601096"/>
          </a:xfrm>
          <a:prstGeom prst="rect">
            <a:avLst/>
          </a:prstGeom>
          <a:noFill/>
          <a:ln>
            <a:noFill/>
          </a:ln>
        </p:spPr>
      </p:pic>
      <p:sp>
        <p:nvSpPr>
          <p:cNvPr id="5" name="TextBox 4"/>
          <p:cNvSpPr txBox="1"/>
          <p:nvPr/>
        </p:nvSpPr>
        <p:spPr>
          <a:xfrm>
            <a:off x="3047999" y="5566090"/>
            <a:ext cx="6096000" cy="369332"/>
          </a:xfrm>
          <a:prstGeom prst="rect">
            <a:avLst/>
          </a:prstGeom>
          <a:noFill/>
        </p:spPr>
        <p:txBody>
          <a:bodyPr wrap="square">
            <a:spAutoFit/>
          </a:bodyPr>
          <a:lstStyle/>
          <a:p>
            <a:pPr algn="ctr"/>
            <a:r>
              <a:rPr lang="en-IN" sz="1800" i="1" dirty="0"/>
              <a:t>Figure </a:t>
            </a:r>
            <a:r>
              <a:rPr lang="en-IN" i="1" dirty="0"/>
              <a:t>5</a:t>
            </a:r>
            <a:r>
              <a:rPr lang="en-IN" sz="1800" i="1" dirty="0"/>
              <a:t> : Payment Plan</a:t>
            </a:r>
            <a:r>
              <a:rPr lang="en-IN" i="1" dirty="0"/>
              <a:t> Detail Page</a:t>
            </a:r>
            <a:endParaRPr lang="en-IN" sz="1800" i="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751801" y="756811"/>
            <a:ext cx="8688395" cy="4311616"/>
          </a:xfrm>
          <a:prstGeom prst="rect">
            <a:avLst/>
          </a:prstGeom>
          <a:noFill/>
          <a:ln>
            <a:noFill/>
          </a:ln>
        </p:spPr>
      </p:pic>
      <p:sp>
        <p:nvSpPr>
          <p:cNvPr id="5" name="TextBox 4"/>
          <p:cNvSpPr txBox="1"/>
          <p:nvPr/>
        </p:nvSpPr>
        <p:spPr>
          <a:xfrm>
            <a:off x="3047998" y="5539196"/>
            <a:ext cx="6096000" cy="369332"/>
          </a:xfrm>
          <a:prstGeom prst="rect">
            <a:avLst/>
          </a:prstGeom>
          <a:noFill/>
        </p:spPr>
        <p:txBody>
          <a:bodyPr wrap="square">
            <a:spAutoFit/>
          </a:bodyPr>
          <a:lstStyle/>
          <a:p>
            <a:pPr algn="ctr"/>
            <a:r>
              <a:rPr lang="en-IN" sz="1800" i="1" dirty="0"/>
              <a:t>Figure 6 : Payment </a:t>
            </a:r>
            <a:r>
              <a:rPr lang="en-IN" i="1" dirty="0"/>
              <a:t>Page</a:t>
            </a:r>
            <a:endParaRPr lang="en-IN" sz="1800" i="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2366210" y="479485"/>
            <a:ext cx="7459579" cy="5093732"/>
          </a:xfrm>
          <a:prstGeom prst="rect">
            <a:avLst/>
          </a:prstGeom>
          <a:noFill/>
          <a:ln>
            <a:noFill/>
          </a:ln>
        </p:spPr>
      </p:pic>
      <p:sp>
        <p:nvSpPr>
          <p:cNvPr id="5" name="TextBox 4"/>
          <p:cNvSpPr txBox="1"/>
          <p:nvPr/>
        </p:nvSpPr>
        <p:spPr>
          <a:xfrm>
            <a:off x="3047999" y="5794030"/>
            <a:ext cx="6096000" cy="369332"/>
          </a:xfrm>
          <a:prstGeom prst="rect">
            <a:avLst/>
          </a:prstGeom>
          <a:noFill/>
        </p:spPr>
        <p:txBody>
          <a:bodyPr wrap="square">
            <a:spAutoFit/>
          </a:bodyPr>
          <a:lstStyle/>
          <a:p>
            <a:pPr algn="ctr"/>
            <a:r>
              <a:rPr lang="en-IN" sz="1800" i="1" dirty="0"/>
              <a:t>Figure </a:t>
            </a:r>
            <a:r>
              <a:rPr lang="en-IN" i="1" dirty="0"/>
              <a:t>7</a:t>
            </a:r>
            <a:r>
              <a:rPr lang="en-IN" sz="1800" i="1" dirty="0"/>
              <a:t> : User(Organizer) Dashboard </a:t>
            </a:r>
            <a:r>
              <a:rPr lang="en-IN" i="1" dirty="0"/>
              <a:t>Page</a:t>
            </a:r>
            <a:endParaRPr lang="en-IN" sz="1800"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538663" y="495407"/>
            <a:ext cx="7114674" cy="5252350"/>
          </a:xfrm>
          <a:prstGeom prst="rect">
            <a:avLst/>
          </a:prstGeom>
          <a:noFill/>
          <a:ln>
            <a:noFill/>
          </a:ln>
        </p:spPr>
      </p:pic>
      <p:sp>
        <p:nvSpPr>
          <p:cNvPr id="5" name="TextBox 4"/>
          <p:cNvSpPr txBox="1"/>
          <p:nvPr/>
        </p:nvSpPr>
        <p:spPr>
          <a:xfrm>
            <a:off x="3048000" y="5876720"/>
            <a:ext cx="6096000" cy="369332"/>
          </a:xfrm>
          <a:prstGeom prst="rect">
            <a:avLst/>
          </a:prstGeom>
          <a:noFill/>
        </p:spPr>
        <p:txBody>
          <a:bodyPr wrap="square">
            <a:spAutoFit/>
          </a:bodyPr>
          <a:lstStyle/>
          <a:p>
            <a:pPr algn="ctr"/>
            <a:r>
              <a:rPr lang="en-IN" sz="1800" i="1" dirty="0"/>
              <a:t>Figure </a:t>
            </a:r>
            <a:r>
              <a:rPr lang="en-IN" i="1" dirty="0"/>
              <a:t>7</a:t>
            </a:r>
            <a:r>
              <a:rPr lang="en-IN" sz="1800" i="1" dirty="0"/>
              <a:t> : Admin Dashboard </a:t>
            </a:r>
            <a:r>
              <a:rPr lang="en-IN" i="1" dirty="0"/>
              <a:t>Page</a:t>
            </a:r>
            <a:endParaRPr lang="en-IN" sz="1800" i="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22448"/>
            <a:ext cx="10515600" cy="1325563"/>
          </a:xfrm>
        </p:spPr>
        <p:txBody>
          <a:bodyPr/>
          <a:lstStyle/>
          <a:p>
            <a:r>
              <a:rPr lang="en-IN" dirty="0">
                <a:latin typeface="Times New Roman" panose="02020603050405020304" pitchFamily="18" charset="0"/>
                <a:cs typeface="Times New Roman" panose="02020603050405020304" pitchFamily="18" charset="0"/>
              </a:rPr>
              <a:t>Conclusion and Future Enhancement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66800" y="1866547"/>
            <a:ext cx="10744200" cy="4669005"/>
          </a:xfrm>
        </p:spPr>
        <p:txBody>
          <a:bodyPr>
            <a:normAutofit/>
          </a:bodyPr>
          <a:lstStyle/>
          <a:p>
            <a:r>
              <a:rPr lang="en-US" sz="2400" dirty="0">
                <a:effectLst/>
                <a:latin typeface="Times New Roman" panose="02020603050405020304" pitchFamily="18" charset="0"/>
                <a:ea typeface="Times New Roman" panose="02020603050405020304" pitchFamily="18" charset="0"/>
              </a:rPr>
              <a:t>This Event Management System is a comprehensive solution tailored for efficient event planning and participation. By accommodating different roles with specific access and functionalities, it offers flexibility and control to organizers and admins while providing an engaging platform for users. The system's secure, scalable, and user-friendly design ensures that it meets the needs of modern event management, making it an invaluable tool for successful event planning and execution.</a:t>
            </a:r>
            <a:endParaRPr lang="en-US" sz="2400" dirty="0">
              <a:effectLst/>
              <a:latin typeface="Times New Roman" panose="02020603050405020304" pitchFamily="18" charset="0"/>
              <a:ea typeface="Times New Roman" panose="02020603050405020304" pitchFamily="18" charset="0"/>
            </a:endParaRPr>
          </a:p>
          <a:p>
            <a:endParaRPr lang="en-US" sz="2400" dirty="0">
              <a:latin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We propose enhancing our Event Management website with a revamped UI/UX, a user feedback system, detailed event analytics, and automated notifications. Additionally, we'll integrate multiple payment options, offer subscription plans, and upgrade admin tools with advanced user management and audit logs to improve user experience and streamline event management.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8176" y="465291"/>
            <a:ext cx="8229600" cy="1143000"/>
          </a:xfrm>
        </p:spPr>
        <p:txBody>
          <a:bodyPr/>
          <a:lstStyle/>
          <a:p>
            <a:r>
              <a:rPr lang="en-IN"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041371"/>
            <a:ext cx="10515600" cy="4351338"/>
          </a:xfrm>
        </p:spPr>
        <p:txBody>
          <a:bodyPr>
            <a:normAutofit/>
          </a:bodyPr>
          <a:lstStyle/>
          <a:p>
            <a:pPr marL="742950" lvl="1" indent="-285750">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rPr>
              <a:t> Laravel Documentation: </a:t>
            </a:r>
            <a:r>
              <a:rPr lang="en-US" sz="2800" u="sng" dirty="0">
                <a:effectLst/>
                <a:latin typeface="Times New Roman" panose="02020603050405020304" pitchFamily="18" charset="0"/>
                <a:ea typeface="Calibri" panose="020F0502020204030204" pitchFamily="34" charset="0"/>
                <a:hlinkClick r:id="rId1"/>
              </a:rPr>
              <a:t>https://laravel.com/docs/11.x/readme</a:t>
            </a:r>
            <a:endParaRPr lang="en-US" sz="2800" u="sng" dirty="0">
              <a:effectLst/>
              <a:latin typeface="Times New Roman" panose="02020603050405020304" pitchFamily="18" charset="0"/>
              <a:ea typeface="Calibri" panose="020F0502020204030204" pitchFamily="34" charset="0"/>
            </a:endParaRPr>
          </a:p>
          <a:p>
            <a:pPr marL="457200" lvl="1" indent="0">
              <a:buNone/>
            </a:pPr>
            <a:endParaRPr lang="en-IN" sz="2800" dirty="0">
              <a:effectLst/>
              <a:latin typeface="Calibri" panose="020F0502020204030204" pitchFamily="34" charset="0"/>
              <a:ea typeface="Calibri" panose="020F0502020204030204" pitchFamily="34" charset="0"/>
            </a:endParaRPr>
          </a:p>
          <a:p>
            <a:pPr marL="742950" lvl="1" indent="-285750">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rPr>
              <a:t> Diagrams: </a:t>
            </a:r>
            <a:r>
              <a:rPr lang="en-US" sz="2800" u="sng" dirty="0">
                <a:effectLst/>
                <a:latin typeface="Times New Roman" panose="02020603050405020304" pitchFamily="18" charset="0"/>
                <a:ea typeface="Calibri" panose="020F0502020204030204" pitchFamily="34" charset="0"/>
                <a:hlinkClick r:id="rId2"/>
              </a:rPr>
              <a:t>www.drawio.com</a:t>
            </a:r>
            <a:endParaRPr lang="en-US" sz="2800" u="sng" dirty="0">
              <a:effectLst/>
              <a:latin typeface="Times New Roman" panose="02020603050405020304" pitchFamily="18" charset="0"/>
              <a:ea typeface="Calibri" panose="020F0502020204030204" pitchFamily="34" charset="0"/>
            </a:endParaRPr>
          </a:p>
          <a:p>
            <a:pPr marL="457200" lvl="1" indent="0">
              <a:buNone/>
            </a:pPr>
            <a:endParaRPr lang="en-IN" sz="2800" dirty="0">
              <a:effectLst/>
              <a:latin typeface="Calibri" panose="020F0502020204030204" pitchFamily="34" charset="0"/>
              <a:ea typeface="Calibri" panose="020F0502020204030204" pitchFamily="34" charset="0"/>
            </a:endParaRPr>
          </a:p>
          <a:p>
            <a:pPr marL="742950" lvl="1" indent="-285750">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rPr>
              <a:t> Agile User Story: </a:t>
            </a:r>
            <a:r>
              <a:rPr lang="en-US" sz="2800" u="sng" dirty="0">
                <a:effectLst/>
                <a:latin typeface="Times New Roman" panose="02020603050405020304" pitchFamily="18" charset="0"/>
                <a:ea typeface="Calibri" panose="020F0502020204030204" pitchFamily="34" charset="0"/>
                <a:hlinkClick r:id="rId3"/>
              </a:rPr>
              <a:t>https://airfocus.com/blog/how-to-write-perfect-user-stories/</a:t>
            </a:r>
            <a:endParaRPr lang="en-US" sz="2800" u="sng" dirty="0">
              <a:effectLst/>
              <a:latin typeface="Times New Roman" panose="02020603050405020304" pitchFamily="18" charset="0"/>
              <a:ea typeface="Calibri" panose="020F0502020204030204" pitchFamily="34" charset="0"/>
            </a:endParaRPr>
          </a:p>
          <a:p>
            <a:pPr marL="457200" lvl="1" indent="0">
              <a:buNone/>
            </a:pPr>
            <a:endParaRPr lang="en-IN" sz="2800" dirty="0">
              <a:effectLst/>
              <a:latin typeface="Calibri" panose="020F0502020204030204" pitchFamily="34" charset="0"/>
              <a:ea typeface="Calibri" panose="020F0502020204030204" pitchFamily="34" charset="0"/>
            </a:endParaRPr>
          </a:p>
          <a:p>
            <a:pPr lvl="1">
              <a:buFont typeface="Wingdings" panose="05000000000000000000" pitchFamily="2" charset="2"/>
              <a:buChar char="Ø"/>
            </a:pPr>
            <a:r>
              <a:rPr lang="en-US" sz="2800" dirty="0">
                <a:effectLst/>
                <a:latin typeface="Times New Roman" panose="02020603050405020304" pitchFamily="18" charset="0"/>
                <a:ea typeface="Calibri" panose="020F0502020204030204" pitchFamily="34" charset="0"/>
              </a:rPr>
              <a:t> Agile Jira Software: </a:t>
            </a:r>
            <a:r>
              <a:rPr lang="en-US" sz="2800" u="sng" dirty="0">
                <a:effectLst/>
                <a:latin typeface="Times New Roman" panose="02020603050405020304" pitchFamily="18" charset="0"/>
                <a:ea typeface="Calibri" panose="020F0502020204030204" pitchFamily="34" charset="0"/>
                <a:hlinkClick r:id="rId4"/>
              </a:rPr>
              <a:t>https://team.atlassian.com/your-work</a:t>
            </a:r>
            <a:endParaRPr lang="en-US" sz="2800" u="sng" dirty="0">
              <a:effectLst/>
              <a:latin typeface="Times New Roman" panose="02020603050405020304" pitchFamily="18" charset="0"/>
              <a:ea typeface="Calibri" panose="020F0502020204030204" pitchFamily="34" charset="0"/>
            </a:endParaRPr>
          </a:p>
          <a:p>
            <a:pPr marL="457200" lvl="1" indent="0">
              <a:buNone/>
            </a:pPr>
            <a:endParaRPr lang="en-IN" sz="28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0</TotalTime>
  <Words>3935</Words>
  <Application>WPS Presentation</Application>
  <PresentationFormat>Widescreen</PresentationFormat>
  <Paragraphs>163</Paragraphs>
  <Slides>26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Arial</vt:lpstr>
      <vt:lpstr>SimSun</vt:lpstr>
      <vt:lpstr>Wingdings</vt:lpstr>
      <vt:lpstr>Calibri</vt:lpstr>
      <vt:lpstr>Times New Roman</vt:lpstr>
      <vt:lpstr>Microsoft YaHei</vt:lpstr>
      <vt:lpstr>Arial Unicode MS</vt:lpstr>
      <vt:lpstr>Calibri Light</vt:lpstr>
      <vt:lpstr>Retrospect</vt:lpstr>
      <vt:lpstr>“Event Management System”</vt:lpstr>
      <vt:lpstr>Table of Contents</vt:lpstr>
      <vt:lpstr>Introduction</vt:lpstr>
      <vt:lpstr>Abstract</vt:lpstr>
      <vt:lpstr>PowerPoint 演示文稿</vt:lpstr>
      <vt:lpstr>Key Features</vt:lpstr>
      <vt:lpstr>Software/Hardware Requirements</vt:lpstr>
      <vt:lpstr>Advantages and Disadvantages</vt:lpstr>
      <vt:lpstr>Module of System</vt:lpstr>
      <vt:lpstr>Screenshots</vt:lpstr>
      <vt:lpstr>PowerPoint 演示文稿</vt:lpstr>
      <vt:lpstr>PowerPoint 演示文稿</vt:lpstr>
      <vt:lpstr>PowerPoint 演示文稿</vt:lpstr>
      <vt:lpstr>PowerPoint 演示文稿</vt:lpstr>
      <vt:lpstr>PowerPoint 演示文稿</vt:lpstr>
      <vt:lpstr>Screenshots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Conclusion and Future Enhancement</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Darshan Bhatt</dc:creator>
  <cp:lastModifiedBy>Raval Rudresh</cp:lastModifiedBy>
  <cp:revision>4</cp:revision>
  <dcterms:created xsi:type="dcterms:W3CDTF">2024-06-06T18:03:00Z</dcterms:created>
  <dcterms:modified xsi:type="dcterms:W3CDTF">2024-06-07T05:01:25Z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FB80BD5BF59B4028AAA60A6302621A4C_12</vt:lpwstr>
  </property>
  <property fmtid="{D5CDD505-2E9C-101B-9397-08002B2CF9AE}" pid="3" name="KSOProductBuildVer">
    <vt:lpwstr>1033-12.2.0.17119</vt:lpwstr>
  </property>
</Properties>
</file>